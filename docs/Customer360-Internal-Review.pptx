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17720"/>
            <a:ext cx="12191695" cy="73152"/>
          </a:xfrm>
          <a:prstGeom prst="rect">
            <a:avLst/>
          </a:prstGeom>
          <a:solidFill>
            <a:srgbClr val="007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000" b="1" i="0">
                <a:solidFill>
                  <a:srgbClr val="FFFFFF"/>
                </a:solidFill>
                <a:latin typeface="Calibri"/>
              </a:rPr>
              <a:t>Customer 360</a:t>
            </a:r>
          </a:p>
          <a:p>
            <a:r>
              <a:rPr sz="2400" b="0" i="0">
                <a:solidFill>
                  <a:srgbClr val="CFDAD4"/>
                </a:solidFill>
                <a:latin typeface="Calibri"/>
              </a:rPr>
              <a:t>Graph-Based Demo — Architecture, Design, Data &amp; Retrieval</a:t>
            </a:r>
          </a:p>
          <a:p>
            <a:pPr>
              <a:spcBef>
                <a:spcPts val="1800"/>
              </a:spcBef>
            </a:pPr>
            <a:r>
              <a:rPr sz="1500" b="1" i="0">
                <a:solidFill>
                  <a:srgbClr val="007339"/>
                </a:solidFill>
                <a:latin typeface="Calibri"/>
              </a:rPr>
              <a:t>Internal Review  ·  NOT customer-facing  ·  2026-06-25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1">
                <a:solidFill>
                  <a:srgbClr val="9AA6A0"/>
                </a:solidFill>
                <a:latin typeface="Calibri"/>
              </a:rPr>
              <a:t>Selling ArangoDB the platform to a security buyer (Zscaler) — grounding &amp; traceability are the pitch.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007339"/>
                </a:solidFill>
                <a:latin typeface="Calibri"/>
              </a:rPr>
              <a:t>OVERVIEW</a:t>
            </a:r>
          </a:p>
          <a:p>
            <a:r>
              <a:rPr sz="2600" b="1" i="0">
                <a:solidFill>
                  <a:srgbClr val="151D25"/>
                </a:solidFill>
                <a:latin typeface="Calibri"/>
              </a:rPr>
              <a:t>What this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07008"/>
            <a:ext cx="2011680" cy="41148"/>
          </a:xfrm>
          <a:prstGeom prst="rect">
            <a:avLst/>
          </a:prstGeom>
          <a:solidFill>
            <a:srgbClr val="007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151D25"/>
                </a:solidFill>
                <a:latin typeface="Calibri"/>
              </a:rPr>
              <a:t>▸ A custom agent answers a free-form question by querying TWO ArangoDB graphs — a structured graph (Salesforce/Snowflake/DocuSign) and an unstructured GraphRAG KG (Slack/Docs/email/PDF) — and reasons across both.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 i="0">
                <a:solidFill>
                  <a:srgbClr val="3C4550"/>
                </a:solidFill>
                <a:latin typeface="Calibri"/>
              </a:rPr>
              <a:t>– Every fact is traceable to the record, graph, and traversal it came from.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151D25"/>
                </a:solidFill>
                <a:latin typeface="Calibri"/>
              </a:rPr>
              <a:t>▸ Strategic purpose: a SALES DEMO to make ArangoDB legible to a Zscaler buyer — not a product, not yet a POC. The agent is the vehicle; ArangoDB is the product.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151D25"/>
                </a:solidFill>
                <a:latin typeface="Calibri"/>
              </a:rPr>
              <a:t>▸ Core value: a question only answerable by JOINING both graphs returns a correct, fully-sourced answer.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151D25"/>
                </a:solidFill>
                <a:latin typeface="Calibri"/>
              </a:rPr>
              <a:t>▸ Failure mode we engineer against: a confident wrong answer in front of a security buyer.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151D25"/>
                </a:solidFill>
                <a:latin typeface="Calibri"/>
              </a:rPr>
              <a:t>▸ Audience filter: trust is the pitch — grounded, traceable, refuses rather than hallucinates, ignores doc injection.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151D25"/>
                </a:solidFill>
                <a:latin typeface="Calibri"/>
              </a:rPr>
              <a:t>▸ 100% synthetic data; runs as a Next.js/Vercel dashboard over the existing managed ArangoDB cluster.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007339"/>
                </a:solidFill>
                <a:latin typeface="Calibri"/>
              </a:rPr>
              <a:t>ARCHITECTURE</a:t>
            </a:r>
          </a:p>
          <a:p>
            <a:r>
              <a:rPr sz="2600" b="1" i="0">
                <a:solidFill>
                  <a:srgbClr val="151D25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07008"/>
            <a:ext cx="2011680" cy="41148"/>
          </a:xfrm>
          <a:prstGeom prst="rect">
            <a:avLst/>
          </a:prstGeom>
          <a:solidFill>
            <a:srgbClr val="007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417320"/>
            <a:ext cx="11155680" cy="40553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 i="1">
                <a:solidFill>
                  <a:srgbClr val="3C4550"/>
                </a:solidFill>
                <a:latin typeface="Calibri"/>
              </a:rPr>
              <a:t>One Vercel deploy (UI + agent) over one ArangoDB cluster. AutoGraph runs build-time only — never on the query path.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007339"/>
                </a:solidFill>
                <a:latin typeface="Calibri"/>
              </a:rPr>
              <a:t>DESIGN</a:t>
            </a:r>
          </a:p>
          <a:p>
            <a:r>
              <a:rPr sz="2600" b="1" i="0">
                <a:solidFill>
                  <a:srgbClr val="151D25"/>
                </a:solidFill>
                <a:latin typeface="Calibri"/>
              </a:rPr>
              <a:t>The Two-Graph Data Model + Entity Bridge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07008"/>
            <a:ext cx="2011680" cy="41148"/>
          </a:xfrm>
          <a:prstGeom prst="rect">
            <a:avLst/>
          </a:prstGeom>
          <a:solidFill>
            <a:srgbClr val="007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wo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417320"/>
            <a:ext cx="11155680" cy="39272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 i="1">
                <a:solidFill>
                  <a:srgbClr val="3C4550"/>
                </a:solidFill>
                <a:latin typeface="Calibri"/>
              </a:rPr>
              <a:t>Two purpose-built graphs joined on a deterministic shared entity_id via the same_as edge — no runtime fuzzy matching.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007339"/>
                </a:solidFill>
                <a:latin typeface="Calibri"/>
              </a:rPr>
              <a:t>DESIGN</a:t>
            </a:r>
          </a:p>
          <a:p>
            <a:r>
              <a:rPr sz="2600" b="1" i="0">
                <a:solidFill>
                  <a:srgbClr val="151D25"/>
                </a:solidFill>
                <a:latin typeface="Calibri"/>
              </a:rPr>
              <a:t>Structured Graph Schema — customer360_structured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07008"/>
            <a:ext cx="2011680" cy="41148"/>
          </a:xfrm>
          <a:prstGeom prst="rect">
            <a:avLst/>
          </a:prstGeom>
          <a:solidFill>
            <a:srgbClr val="007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ructured-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417320"/>
            <a:ext cx="11155680" cy="42545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 i="1">
                <a:solidFill>
                  <a:srgbClr val="3C4550"/>
                </a:solidFill>
                <a:latin typeface="Calibri"/>
              </a:rPr>
              <a:t>7 vertex + 7 edge collections. NPS score (structured) sits over the verbatim comment (KG) — engine of the centerpiece question.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007339"/>
                </a:solidFill>
                <a:latin typeface="Calibri"/>
              </a:rPr>
              <a:t>DESIGN</a:t>
            </a:r>
          </a:p>
          <a:p>
            <a:r>
              <a:rPr sz="2600" b="1" i="0">
                <a:solidFill>
                  <a:srgbClr val="151D25"/>
                </a:solidFill>
                <a:latin typeface="Calibri"/>
              </a:rPr>
              <a:t>Unstructured KG Schema — customer360_kg (AutoGraph)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07008"/>
            <a:ext cx="2011680" cy="41148"/>
          </a:xfrm>
          <a:prstGeom prst="rect">
            <a:avLst/>
          </a:prstGeom>
          <a:solidFill>
            <a:srgbClr val="007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g-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417320"/>
            <a:ext cx="11155680" cy="2646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 i="1">
                <a:solidFill>
                  <a:srgbClr val="3C4550"/>
                </a:solidFill>
                <a:latin typeface="Calibri"/>
              </a:rPr>
              <a:t>1,941 typed edges; only PART_OF (139) queried today. Entities/communities are built, vector-indexed, summarized — but unqueried (~93%).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007339"/>
                </a:solidFill>
                <a:latin typeface="Calibri"/>
              </a:rPr>
              <a:t>DESIGN</a:t>
            </a:r>
          </a:p>
          <a:p>
            <a:r>
              <a:rPr sz="2600" b="1" i="0">
                <a:solidFill>
                  <a:srgbClr val="151D25"/>
                </a:solidFill>
                <a:latin typeface="Calibri"/>
              </a:rPr>
              <a:t>Key Design Choices (and why)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07008"/>
            <a:ext cx="2011680" cy="41148"/>
          </a:xfrm>
          <a:prstGeom prst="rect">
            <a:avLst/>
          </a:prstGeom>
          <a:solidFill>
            <a:srgbClr val="007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 i="0">
                <a:solidFill>
                  <a:srgbClr val="151D25"/>
                </a:solidFill>
                <a:latin typeface="Calibri"/>
              </a:rPr>
              <a:t>▸ Orchestration: AI SDK 6 ToolLoopAgent (TS), planner-led, 12-step cap, temp 0 — same runtime as the UI → one Vercel deploy.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 i="0">
                <a:solidFill>
                  <a:srgbClr val="151D25"/>
                </a:solidFill>
                <a:latin typeface="Calibri"/>
              </a:rPr>
              <a:t>▸ Structured graph hand-modeled (not AutoGraph) — clean schema + named, explainable traversals.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 i="0">
                <a:solidFill>
                  <a:srgbClr val="151D25"/>
                </a:solidFill>
                <a:latin typeface="Calibri"/>
              </a:rPr>
              <a:t>▸ AutoGraph at build time only — borrow Leiden/RRF/embeddings; never put its opaque retriever on the query path.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 i="0">
                <a:solidFill>
                  <a:srgbClr val="151D25"/>
                </a:solidFill>
                <a:latin typeface="Calibri"/>
              </a:rPr>
              <a:t>▸ Cross-graph join via deterministic shared entity_id + same_as — no runtime fuzzy matching.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 i="0">
                <a:solidFill>
                  <a:srgbClr val="151D25"/>
                </a:solidFill>
                <a:latin typeface="Calibri"/>
              </a:rPr>
              <a:t>▸ 4 curated, read-only, LIMIT-bounded AQL tools; no generated AQL — a hallucinated query live is the failure mode to avoid.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 i="0">
                <a:solidFill>
                  <a:srgbClr val="151D25"/>
                </a:solidFill>
                <a:latin typeface="Calibri"/>
              </a:rPr>
              <a:t>▸ Grounding is pure code (enforceGrounding) — no model call decides grounding; ungrounded → structured refusal.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 i="0">
                <a:solidFill>
                  <a:srgbClr val="151D25"/>
                </a:solidFill>
                <a:latin typeface="Calibri"/>
              </a:rPr>
              <a:t>▸ Answer contract = Zod envelope {answer, claims[], citations[], retrievalPath[], groundingScore}.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 i="0">
                <a:solidFill>
                  <a:srgbClr val="151D25"/>
                </a:solidFill>
                <a:latin typeface="Calibri"/>
              </a:rPr>
              <a:t>▸ Determinism: temp 0 + N=3 majority-vote judge + 1-retry gate → trustworthy pre-demo green/red.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007339"/>
                </a:solidFill>
                <a:latin typeface="Calibri"/>
              </a:rPr>
              <a:t>DATA</a:t>
            </a:r>
          </a:p>
          <a:p>
            <a:r>
              <a:rPr sz="2600" b="1" i="0">
                <a:solidFill>
                  <a:srgbClr val="151D25"/>
                </a:solidFill>
                <a:latin typeface="Calibri"/>
              </a:rPr>
              <a:t>Data Generation — 100% synthetic, coherent, seeded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07008"/>
            <a:ext cx="2011680" cy="41148"/>
          </a:xfrm>
          <a:prstGeom prst="rect">
            <a:avLst/>
          </a:prstGeom>
          <a:solidFill>
            <a:srgbClr val="007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ta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417320"/>
            <a:ext cx="11155680" cy="19067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 i="1">
                <a:solidFill>
                  <a:srgbClr val="3C4550"/>
                </a:solidFill>
                <a:latin typeface="Calibri"/>
              </a:rPr>
              <a:t>Event-spine first → shared entity_id → seeded LLM generators → integrity linter gate → idempotent load + AutoGraph build.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007339"/>
                </a:solidFill>
                <a:latin typeface="Calibri"/>
              </a:rPr>
              <a:t>DATA</a:t>
            </a:r>
          </a:p>
          <a:p>
            <a:r>
              <a:rPr sz="2600" b="1" i="0">
                <a:solidFill>
                  <a:srgbClr val="151D25"/>
                </a:solidFill>
                <a:latin typeface="Calibri"/>
              </a:rPr>
              <a:t>The Narrative: 3 Accounts, 9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07008"/>
            <a:ext cx="2011680" cy="41148"/>
          </a:xfrm>
          <a:prstGeom prst="rect">
            <a:avLst/>
          </a:prstGeom>
          <a:solidFill>
            <a:srgbClr val="007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151D25"/>
                </a:solidFill>
                <a:latin typeface="Calibri"/>
              </a:rPr>
              <a:t>▸ Northwind Analytics — healthy expansion: green AND genuinely healthy (true positive). Anchors Q7, Q5.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151D25"/>
                </a:solidFill>
                <a:latin typeface="Calibri"/>
              </a:rPr>
              <a:t>▸ Meridian Logistics — hidden risk: green metrics, RED sentiment (the false positive we catch). Anchors Q12★, Q2, Q9, Q8.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151D25"/>
                </a:solidFill>
                <a:latin typeface="Calibri"/>
              </a:rPr>
              <a:t>▸ Helio Retail — honest churn: usage AND sentiment decline together. Anchors Q13, Q14, Q15.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151D25"/>
                </a:solidFill>
                <a:latin typeface="Calibri"/>
              </a:rPr>
              <a:t>▸ Q12 is the centerpiece: every structured metric green, NPS score fine — yet Slack escalations, a quiet champion, a red QBR flag, and a negative NPS verbatim reveal it is at-risk.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 i="0">
                <a:solidFill>
                  <a:srgbClr val="3C4550"/>
                </a:solidFill>
                <a:latin typeface="Calibri"/>
              </a:rPr>
              <a:t>– "Green" = a composite of structured signals. Green ≠ healthy — that gap is the demo.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 i="0">
                <a:solidFill>
                  <a:srgbClr val="3C4550"/>
                </a:solidFill>
                <a:latin typeface="Calibri"/>
              </a:rPr>
              <a:t>– Only crossing both graphs surfaces the contradiction. A single-system tool answers "healthy ✓" — the confident-wrong answer.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0" y="1417320"/>
            <a:ext cx="3200400" cy="2011680"/>
          </a:xfrm>
          <a:prstGeom prst="rect">
            <a:avLst/>
          </a:prstGeom>
          <a:solidFill>
            <a:srgbClr val="F2F5F3"/>
          </a:solidFill>
          <a:ln w="19050">
            <a:solidFill>
              <a:srgbClr val="00733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07339"/>
                </a:solidFill>
                <a:latin typeface="Calibri"/>
              </a:rPr>
              <a:t>📸 Hero answer (Q12)
paste screenshot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007339"/>
                </a:solidFill>
                <a:latin typeface="Calibri"/>
              </a:rPr>
              <a:t>RETRIEVAL</a:t>
            </a:r>
          </a:p>
          <a:p>
            <a:r>
              <a:rPr sz="2600" b="1" i="0">
                <a:solidFill>
                  <a:srgbClr val="151D25"/>
                </a:solidFill>
                <a:latin typeface="Calibri"/>
              </a:rPr>
              <a:t>Retrieval Approach — Planner + 4 Specialists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07008"/>
            <a:ext cx="2011680" cy="41148"/>
          </a:xfrm>
          <a:prstGeom prst="rect">
            <a:avLst/>
          </a:prstGeom>
          <a:solidFill>
            <a:srgbClr val="007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tri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089" y="1417320"/>
            <a:ext cx="4937517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 i="1">
                <a:solidFill>
                  <a:srgbClr val="3C4550"/>
                </a:solidFill>
                <a:latin typeface="Calibri"/>
              </a:rPr>
              <a:t>Each tool returns data + a retrievalPath fragment; pure-code grounding gate; validated envelope streamed to the UI.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007339"/>
                </a:solidFill>
                <a:latin typeface="Calibri"/>
              </a:rPr>
              <a:t>RETRIEVAL</a:t>
            </a:r>
          </a:p>
          <a:p>
            <a:r>
              <a:rPr sz="2600" b="1" i="0">
                <a:solidFill>
                  <a:srgbClr val="151D25"/>
                </a:solidFill>
                <a:latin typeface="Calibri"/>
              </a:rPr>
              <a:t>Hybrid Retrieval — one engine, one query language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07008"/>
            <a:ext cx="2011680" cy="41148"/>
          </a:xfrm>
          <a:prstGeom prst="rect">
            <a:avLst/>
          </a:prstGeom>
          <a:solidFill>
            <a:srgbClr val="007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yb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417320"/>
            <a:ext cx="11155680" cy="16505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 i="1">
                <a:solidFill>
                  <a:srgbClr val="3C4550"/>
                </a:solidFill>
                <a:latin typeface="Calibri"/>
              </a:rPr>
              <a:t>Vector + BM25 + graph traversal all in ArangoDB. Competitive contrast: "you'd need Neo4j + Pinecone + a search system + glue."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007339"/>
                </a:solidFill>
                <a:latin typeface="Calibri"/>
              </a:rPr>
              <a:t>TRUST</a:t>
            </a:r>
          </a:p>
          <a:p>
            <a:r>
              <a:rPr sz="2600" b="1" i="0">
                <a:solidFill>
                  <a:srgbClr val="151D25"/>
                </a:solidFill>
                <a:latin typeface="Calibri"/>
              </a:rPr>
              <a:t>Grounding &amp; Trust Model — two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07008"/>
            <a:ext cx="2011680" cy="41148"/>
          </a:xfrm>
          <a:prstGeom prst="rect">
            <a:avLst/>
          </a:prstGeom>
          <a:solidFill>
            <a:srgbClr val="007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ou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595" y="1417320"/>
            <a:ext cx="3366504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 i="1">
                <a:solidFill>
                  <a:srgbClr val="3C4550"/>
                </a:solidFill>
                <a:latin typeface="Calibri"/>
              </a:rPr>
              <a:t>Layer 1 (live, deterministic _id grounding) is the hard floor. Layer 2 (faithfulness) is eval-only — not the live gate.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4892040"/>
            <a:ext cx="2743200" cy="1371600"/>
          </a:xfrm>
          <a:prstGeom prst="rect">
            <a:avLst/>
          </a:prstGeom>
          <a:solidFill>
            <a:srgbClr val="F2F5F3"/>
          </a:solidFill>
          <a:ln w="19050">
            <a:solidFill>
              <a:srgbClr val="00733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07339"/>
                </a:solidFill>
                <a:latin typeface="Calibri"/>
              </a:rPr>
              <a:t>📸 Refusal (RefusalPanel)
paste screenshot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007339"/>
                </a:solidFill>
                <a:latin typeface="Calibri"/>
              </a:rPr>
              <a:t>TRUST</a:t>
            </a:r>
          </a:p>
          <a:p>
            <a:r>
              <a:rPr sz="2600" b="1" i="0">
                <a:solidFill>
                  <a:srgbClr val="151D25"/>
                </a:solidFill>
                <a:latin typeface="Calibri"/>
              </a:rPr>
              <a:t>Eval Harness &amp; Faithfulness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07008"/>
            <a:ext cx="2011680" cy="41148"/>
          </a:xfrm>
          <a:prstGeom prst="rect">
            <a:avLst/>
          </a:prstGeom>
          <a:solidFill>
            <a:srgbClr val="007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151D25"/>
                </a:solidFill>
                <a:latin typeface="Calibri"/>
              </a:rPr>
              <a:t>▸ One command, green/red — runs all 9 locked questions + adversarial refusals against the live planner + ArangoDB before any demo.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151D25"/>
                </a:solidFill>
                <a:latin typeface="Calibri"/>
              </a:rPr>
              <a:t>▸ Per question asserts: correct (non-)refusal, cross-graph reconciliation (≥1 structured AND ≥1 unstructured _id), groundingScore = 1.0, faithfulness ≥ 0.6, and (Q12/Q13) that the answer names the contradiction.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151D25"/>
                </a:solidFill>
                <a:latin typeface="Calibri"/>
              </a:rPr>
              <a:t>▸ Determinism: temperature 0, N=3 majority-vote judge (≥2/3 = supported), 1-retry to absorb a transient flake.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 i="0">
                <a:solidFill>
                  <a:srgbClr val="3C4550"/>
                </a:solidFill>
                <a:latin typeface="Calibri"/>
              </a:rPr>
              <a:t>– Residual ~5% stochastic-judge variance is a SAFE failure (no fabrication).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151D25"/>
                </a:solidFill>
                <a:latin typeface="Calibri"/>
              </a:rPr>
              <a:t>▸ The 0.6 floor is honest, not tuned down — a drop below 0.6 on a stable run is a real regression.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417320"/>
            <a:ext cx="3566160" cy="1828800"/>
          </a:xfrm>
          <a:prstGeom prst="rect">
            <a:avLst/>
          </a:prstGeom>
          <a:solidFill>
            <a:srgbClr val="F2F5F3"/>
          </a:solidFill>
          <a:ln w="19050">
            <a:solidFill>
              <a:srgbClr val="00733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07339"/>
                </a:solidFill>
                <a:latin typeface="Calibri"/>
              </a:rPr>
              <a:t>📸 Eval gate ALL-GREEN
paste terminal screenshot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007339"/>
                </a:solidFill>
                <a:latin typeface="Calibri"/>
              </a:rPr>
              <a:t>INTERNAL ONLY — DO NOT SHOW THE CLIENT</a:t>
            </a:r>
          </a:p>
          <a:p>
            <a:r>
              <a:rPr sz="2600" b="1" i="0">
                <a:solidFill>
                  <a:srgbClr val="151D25"/>
                </a:solidFill>
                <a:latin typeface="Calibri"/>
              </a:rPr>
              <a:t>Honest Current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07008"/>
            <a:ext cx="2011680" cy="41148"/>
          </a:xfrm>
          <a:prstGeom prst="rect">
            <a:avLst/>
          </a:prstGeom>
          <a:solidFill>
            <a:srgbClr val="007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151D25"/>
                </a:solidFill>
                <a:latin typeface="Calibri"/>
              </a:rPr>
              <a:t>▸ REAL graph work today: hybrid retrieval + PART_OF sourcing traversal + same_as cross-graph bridge; deterministic grounding; claim-level provenance; live CDC; injection resistance.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151D25"/>
                </a:solidFill>
                <a:latin typeface="Calibri"/>
              </a:rPr>
              <a:t>▸ NOT yet: structured retrieval is flat scans (no traversal); the cross-graph JOIN lives in the planner's reasoning, not a single AQL query; entity/community KG layers built but unqueried; graph viz congested; prod not promoted.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151D25"/>
                </a:solidFill>
                <a:latin typeface="Calibri"/>
              </a:rPr>
              <a:t>▸ Phase 14 is the cut line before going Zscaler-facing — real traversal, single-AQL join, and "show me the query." The demo is notably strong after Phase 14.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 i="0">
                <a:solidFill>
                  <a:srgbClr val="3C4550"/>
                </a:solidFill>
                <a:latin typeface="Calibri"/>
              </a:rPr>
              <a:t>– Do not overclaim graph depth now: if a technical buyer asks to see the structured query, it is currently a flat FILTER.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007339"/>
                </a:solidFill>
                <a:latin typeface="Calibri"/>
              </a:rPr>
              <a:t>ROADMAP</a:t>
            </a:r>
          </a:p>
          <a:p>
            <a:r>
              <a:rPr sz="2600" b="1" i="0">
                <a:solidFill>
                  <a:srgbClr val="151D25"/>
                </a:solidFill>
                <a:latin typeface="Calibri"/>
              </a:rPr>
              <a:t>Roadmap (v2 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07008"/>
            <a:ext cx="2011680" cy="41148"/>
          </a:xfrm>
          <a:prstGeom prst="rect">
            <a:avLst/>
          </a:prstGeom>
          <a:solidFill>
            <a:srgbClr val="007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151D25"/>
                </a:solidFill>
                <a:latin typeface="Calibri"/>
              </a:rPr>
              <a:t>▸ Phase 14 — Graph-Depth + Explainability: real multi-hop traversal + single-AQL cross-graph join + "show me the query" reveal.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151D25"/>
                </a:solidFill>
                <a:latin typeface="Calibri"/>
              </a:rPr>
              <a:t>▸ Phase 15 — GraphRAG via Communities: hierarchical global→local retrieval over the built Leiden layer (summaries already exist + embedded).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151D25"/>
                </a:solidFill>
                <a:latin typeface="Calibri"/>
              </a:rPr>
              <a:t>▸ Phase 16 — Time-Travel: @asOf effective-dated traversal (honest: a modeling pattern, not native).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151D25"/>
                </a:solidFill>
                <a:latin typeface="Calibri"/>
              </a:rPr>
              <a:t>▸ Phase 17 — Agent Memory on ArangoDB: multi-turn, graph-resident memory ("agentic brain on Arango").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151D25"/>
                </a:solidFill>
                <a:latin typeface="Calibri"/>
              </a:rPr>
              <a:t>▸ Phase 18 — Presenter Control Panel + CDC reframe: one-click capability moments; name one-engine propagation.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151D25"/>
                </a:solidFill>
                <a:latin typeface="Calibri"/>
              </a:rPr>
              <a:t>▸ Demo Assets (parallel): talk track, maps-to-your-data one-pager, competitive one-liner, security slide.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 i="0">
                <a:solidFill>
                  <a:srgbClr val="007339"/>
                </a:solidFill>
                <a:latin typeface="Calibri"/>
              </a:rPr>
              <a:t>APPENDIX</a:t>
            </a:r>
          </a:p>
          <a:p>
            <a:r>
              <a:rPr sz="2600" b="1" i="0">
                <a:solidFill>
                  <a:srgbClr val="151D25"/>
                </a:solidFill>
                <a:latin typeface="Calibri"/>
              </a:rPr>
              <a:t>Screenshot Shot-List (to complete this deck)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07008"/>
            <a:ext cx="2011680" cy="41148"/>
          </a:xfrm>
          <a:prstGeom prst="rect">
            <a:avLst/>
          </a:prstGeom>
          <a:solidFill>
            <a:srgbClr val="007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 i="0">
                <a:solidFill>
                  <a:srgbClr val="151D25"/>
                </a:solidFill>
                <a:latin typeface="Calibri"/>
              </a:rPr>
              <a:t>▸ Run on localhost (npm run dev) or a preview deploy — prod isn't promoted. Use Meridian Q12 as the hero. Leave adversarial mode hidden.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200" b="0" i="0">
                <a:solidFill>
                  <a:srgbClr val="3C4550"/>
                </a:solidFill>
                <a:latin typeface="Calibri"/>
              </a:rPr>
              <a:t>– 1. Hero answer (Q12): claim list + inline citations + Trust chip "Grounded ✓". → Slide 9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200" b="0" i="0">
                <a:solidFill>
                  <a:srgbClr val="3C4550"/>
                </a:solidFill>
                <a:latin typeface="Calibri"/>
              </a:rPr>
              <a:t>– 2. Cross-graph subgraph viz (Q12): structured (left) + unstructured (right) + same_as bridge + edge-kind legend (solid/dashed/dotted).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200" b="0" i="0">
                <a:solidFill>
                  <a:srgbClr val="3C4550"/>
                </a:solidFill>
                <a:latin typeface="Calibri"/>
              </a:rPr>
              <a:t>– 3. Citation drawer: a Slack/QBR chunk's text AND a structured record's fields side by side.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200" b="0" i="0">
                <a:solidFill>
                  <a:srgbClr val="3C4550"/>
                </a:solidFill>
                <a:latin typeface="Calibri"/>
              </a:rPr>
              <a:t>– 4. Refusal: out-of-scope question → RefusalPanel, zero fabricated citations. → Slide 12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200" b="0" i="0">
                <a:solidFill>
                  <a:srgbClr val="3C4550"/>
                </a:solidFill>
                <a:latin typeface="Calibri"/>
              </a:rPr>
              <a:t>– 5. What-changed diff: trigger Simulate update, re-ask, capture WhatChangedBanner + highlights. (Optional)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200" b="0" i="0">
                <a:solidFill>
                  <a:srgbClr val="3C4550"/>
                </a:solidFill>
                <a:latin typeface="Calibri"/>
              </a:rPr>
              <a:t>– 6. Eval gate green: terminal all-green per-question summary. → Slide 13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200" b="0" i="0">
                <a:solidFill>
                  <a:srgbClr val="3C4550"/>
                </a:solidFill>
                <a:latin typeface="Calibri"/>
              </a:rPr>
              <a:t>– 7. Linter green (optional): synthetic-data integrity linter passing.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 i="0">
                <a:solidFill>
                  <a:srgbClr val="151D25"/>
                </a:solidFill>
                <a:latin typeface="Calibri"/>
              </a:rPr>
              <a:t>▸ Diagrams on slides 3,4,5,6,8,10,11,12 are rendered from Mermaid — edit the .mmd sources and re-render to update.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